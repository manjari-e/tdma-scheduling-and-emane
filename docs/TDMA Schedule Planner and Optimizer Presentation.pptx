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2192000" cy="6858000" type="screen4x3"/>
  <ns0:notesSz cx="6858000" cy="9144000"/>
  <ns0:embeddedFontLst>
    <ns0:embeddedFont>
      <ns0:font typeface="Space Grotesk"/>
      <ns0:bold ns1:id="rIdFont19"/>
    </ns0:embeddedFont>
    <ns0:embeddedFont>
      <ns0:font typeface="Inter"/>
      <ns0:bold ns1:id="rIdFont20"/>
      <ns0:regular ns1:id="rIdFont21"/>
    </ns0:embeddedFont>
    <ns0:embeddedFont>
      <ns0:font typeface="JetBrains Mono"/>
      <ns0:bold ns1:id="rIdFont22"/>
      <ns0:regular ns1:id="rIdFont23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Font19" Type="http://schemas.openxmlformats.org/officeDocument/2006/relationships/font" Target="fonts/c1017b4a-0ea5-4e64-a270-916e5abc37e4.fntdata" /><ns0:Relationship Id="rIdFont20" Type="http://schemas.openxmlformats.org/officeDocument/2006/relationships/font" Target="fonts/99599da4-d646-4fce-ba53-3c64026db675.fntdata" /><ns0:Relationship Id="rIdFont21" Type="http://schemas.openxmlformats.org/officeDocument/2006/relationships/font" Target="fonts/3b86d1b3-1eff-4870-90a3-9f1a4457a920.fntdata" /><ns0:Relationship Id="rIdFont22" Type="http://schemas.openxmlformats.org/officeDocument/2006/relationships/font" Target="fonts/6d1d169e-7329-4aeb-8694-5c4030223840.fntdata" /><ns0:Relationship Id="rIdFont23" Type="http://schemas.openxmlformats.org/officeDocument/2006/relationships/font" Target="fonts/8e55184a-a0b4-46b6-9afc-4b4ea193cdd8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5648176"/>
            <a:ext cx="10668000" cy="600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705850" y="609600"/>
            <a:ext cx="2724150" cy="304800"/>
          </a:xfrm>
          <a:prstGeom prst="roundRect">
            <a:avLst>
              <a:gd name="adj" fmla="val 12500"/>
            </a:avLst>
          </a:prstGeom>
          <a:solidFill>
            <a:srgbClr val="0E1F2D"/>
          </a:solidFill>
          <a:ln w="9525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5648176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676275"/>
            <a:ext cx="485254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Space Grotesk"/>
              </a:rPr>
              <a:t>VAAN MEGAM NETWORKS • TECHNICAL SUBMISSION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607915"/>
            <a:ext cx="11430000" cy="5695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8FAFC"/>
                </a:solidFill>
                <a:latin typeface="Space Grotesk"/>
              </a:rPr>
              <a:t>TDMA Schedule Planner &amp; Optimizer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367980"/>
            <a:ext cx="790575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94A3B8"/>
                </a:solidFill>
                <a:latin typeface="Inter"/>
              </a:rPr>
              <a:t>Autonomous Distance-2 Conflict Graph Colouring with Hardware-in-the-Loop EMANE BDCE Emulation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48725" y="676275"/>
            <a:ext cx="3048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JetBrains Mono"/>
              </a:rPr>
              <a:t>5-Slot Optimal • Zero Collisions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5886301"/>
            <a:ext cx="329803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TRACK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048226"/>
            <a:ext cx="32980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1F5F9"/>
                </a:solidFill>
                <a:latin typeface="Inter"/>
              </a:rPr>
              <a:t>Wireless Protocol 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3325" y="5886301"/>
            <a:ext cx="24288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ENGINE 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3325" y="6048226"/>
            <a:ext cx="2428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1F5F9"/>
                </a:solidFill>
                <a:latin typeface="Inter"/>
              </a:rPr>
              <a:t>Python 3.11 • NetworkX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29325" y="5886301"/>
            <a:ext cx="270271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PHYSICAL EMULATOR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29325" y="6048226"/>
            <a:ext cx="270271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1F5F9"/>
                </a:solidFill>
                <a:latin typeface="Inter"/>
              </a:rPr>
              <a:t>EMANE 1.3.3 TDMA BDCE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4400" y="5886301"/>
            <a:ext cx="2286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4400" y="6048226"/>
            <a:ext cx="2286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0B981"/>
                </a:solidFill>
                <a:latin typeface="Inter"/>
              </a:rPr>
              <a:t>Part 1 + Part 2 Verified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32794"/>
            <a:ext cx="5314950" cy="2116335"/>
          </a:xfrm>
          <a:prstGeom prst="roundRect">
            <a:avLst>
              <a:gd name="adj" fmla="val 54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67450" y="2708523"/>
            <a:ext cx="5314950" cy="2364878"/>
          </a:xfrm>
          <a:prstGeom prst="roundRect">
            <a:avLst>
              <a:gd name="adj" fmla="val 48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3925" y="4215705"/>
            <a:ext cx="4686300" cy="419100"/>
          </a:xfrm>
          <a:prstGeom prst="roundRect">
            <a:avLst>
              <a:gd name="adj" fmla="val 1363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1775" y="4339976"/>
            <a:ext cx="4686300" cy="419100"/>
          </a:xfrm>
          <a:prstGeom prst="roundRect">
            <a:avLst>
              <a:gd name="adj" fmla="val 1363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166169"/>
            <a:ext cx="25717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775" y="3041898"/>
            <a:ext cx="22860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PROBLEM 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76275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Eliminating Collision in Tactical Ad-Hoc Networks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566219"/>
            <a:ext cx="4781550" cy="4970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Adjacent radios within 500m transmission range corrupt concurrent frames via half-duplex transceiver limitations.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6325" y="4330005"/>
            <a:ext cx="4476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0F172A"/>
                </a:solidFill>
                <a:latin typeface="JetBrains Mono"/>
              </a:rPr>
              <a:t>Condition: d(A, B) ≤ 500.0m ⇒ Distinct Slots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1775" y="3441948"/>
            <a:ext cx="4781550" cy="745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Disjoint nodes transmit concurrently to a mutual relay. The signal collides silently at the receiver without carrier awareness.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4175" y="4454276"/>
            <a:ext cx="4476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0F172A"/>
                </a:solidFill>
                <a:latin typeface="JetBrains Mono"/>
              </a:rPr>
              <a:t>A → B ← C ⇒ Collision at B ⇒ Distinct Slots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5400" y="3147119"/>
            <a:ext cx="345043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1-Hop Direct Interference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4675" y="3022848"/>
            <a:ext cx="48006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2-Hop Hidden Terminal Interference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62650" y="2352675"/>
            <a:ext cx="5619750" cy="3038475"/>
          </a:xfrm>
          <a:prstGeom prst="roundRect">
            <a:avLst>
              <a:gd name="adj" fmla="val 3761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256829"/>
            <a:ext cx="5010150" cy="1519832"/>
          </a:xfrm>
          <a:prstGeom prst="roundRect">
            <a:avLst>
              <a:gd name="adj" fmla="val 626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67162"/>
            <a:ext cx="5010150" cy="1519832"/>
          </a:xfrm>
          <a:prstGeom prst="roundRect">
            <a:avLst>
              <a:gd name="adj" fmla="val 626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MATHEMATICAL MODELLING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76275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The Distance-2 Conflict Graph Formulation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7450" y="2657475"/>
            <a:ext cx="592455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8BDF8"/>
                </a:solidFill>
                <a:latin typeface="Space Grotesk"/>
              </a:rPr>
              <a:t>Formulation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2494954"/>
            <a:ext cx="595074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Space Grotesk"/>
              </a:rPr>
              <a:t>1. Primary Communication Topology (G)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2818804"/>
            <a:ext cx="462915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Vertices V = 16 nodes. Link (u, v) exists if Euclidean separation ≤ 500.0m. Yields 23 direct duplex communication links.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4205287"/>
            <a:ext cx="595074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Space Grotesk"/>
              </a:rPr>
              <a:t>2. Conflict Expansion (G_conflict)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4529137"/>
            <a:ext cx="462915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Computes 2-hop symmetric paths. Adds 32 indirect hidden-terminal edges for a combined total of 55 mutual exclusion constraints.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7450" y="3057525"/>
            <a:ext cx="148828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Inter"/>
              </a:rPr>
              <a:t>Topology Area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91650" y="3057525"/>
            <a:ext cx="23574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8FAFC"/>
                </a:solidFill>
                <a:latin typeface="JetBrains Mono"/>
              </a:rPr>
              <a:t>900m × 900m Canvas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7450" y="3514725"/>
            <a:ext cx="21431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Inter"/>
              </a:rPr>
              <a:t>1-Hop Conflict Edges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9400" y="3514725"/>
            <a:ext cx="11239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8FAFC"/>
                </a:solidFill>
                <a:latin typeface="JetBrains Mono"/>
              </a:rPr>
              <a:t>23 Edges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7450" y="3971925"/>
            <a:ext cx="30956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Inter"/>
              </a:rPr>
              <a:t>2-Hop Hidden-Terminal Edges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39400" y="3971925"/>
            <a:ext cx="11239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8FAFC"/>
                </a:solidFill>
                <a:latin typeface="JetBrains Mono"/>
              </a:rPr>
              <a:t>32 Edges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7450" y="4429125"/>
            <a:ext cx="28575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Inter"/>
              </a:rPr>
              <a:t>Total Conflict Graph Density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2100" y="4429125"/>
            <a:ext cx="2619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JetBrains Mono"/>
              </a:rPr>
              <a:t>55 Edges (D = 0.458)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7450" y="4886325"/>
            <a:ext cx="2166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Inter"/>
              </a:rPr>
              <a:t>Scheduling Objective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63000" y="4886325"/>
            <a:ext cx="3143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0B981"/>
                </a:solidFill>
                <a:latin typeface="Inter"/>
              </a:rPr>
              <a:t>Minimize Chromatic Number 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76500" y="4184898"/>
            <a:ext cx="7239000" cy="1069478"/>
          </a:xfrm>
          <a:prstGeom prst="roundRect">
            <a:avLst>
              <a:gd name="adj" fmla="val 7124"/>
            </a:avLst>
          </a:prstGeom>
          <a:solidFill>
            <a:srgbClr val="F0FDF4"/>
          </a:solidFill>
          <a:ln w="95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THEORETICAL BOUND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76275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Global Minimality Provably Achieved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71962" y="2413248"/>
            <a:ext cx="4560093" cy="1104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700"/>
              </a:lnSpc>
            </a:pPr>
            <a:r>
              <a:rPr b="1" sz="8700" i="0" u="none">
                <a:solidFill>
                  <a:srgbClr val="0284C7"/>
                </a:solidFill>
                <a:latin typeface="Space Grotesk"/>
              </a:rPr>
              <a:t>5 Slots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19387" y="3670548"/>
            <a:ext cx="844153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Strictly Matches Theoretical Clique Lower Bound ω(G_conflict) =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16906" y="4346823"/>
            <a:ext cx="8358187" cy="745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b="1" sz="1350" i="0" u="none">
                <a:solidFill>
                  <a:srgbClr val="15803D"/>
                </a:solidFill>
                <a:latin typeface="Inter"/>
              </a:rPr>
              <a:t>Mathematical Proof:</a:t>
            </a:r>
            <a:r>
              <a:rPr b="0" sz="1350" i="0" u="none">
                <a:solidFill>
                  <a:srgbClr val="15803D"/>
                </a:solidFill>
                <a:latin typeface="Inter"/>
              </a:rPr>
              <a:t> Any clique requires pairwise disjoint slots (χ ≥ ω). Bron-Kerbosch algorithm isolates a maximum clique of cardinality 5. Because the schedule achieves 5 slots, the solution is globally minimal.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74751"/>
            <a:ext cx="2571750" cy="2194321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9950" y="2774751"/>
            <a:ext cx="2571750" cy="2194321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774751"/>
            <a:ext cx="2571750" cy="2194321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10650" y="2774751"/>
            <a:ext cx="2571750" cy="2194321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7725" y="4359473"/>
            <a:ext cx="2095500" cy="333375"/>
          </a:xfrm>
          <a:prstGeom prst="roundRect">
            <a:avLst>
              <a:gd name="adj" fmla="val 1714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48075" y="4359473"/>
            <a:ext cx="2095500" cy="333375"/>
          </a:xfrm>
          <a:prstGeom prst="roundRect">
            <a:avLst>
              <a:gd name="adj" fmla="val 1714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48425" y="4359473"/>
            <a:ext cx="2095500" cy="333375"/>
          </a:xfrm>
          <a:prstGeom prst="roundRect">
            <a:avLst>
              <a:gd name="adj" fmla="val 1714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248775" y="4359473"/>
            <a:ext cx="2095500" cy="333375"/>
          </a:xfrm>
          <a:prstGeom prst="roundRect">
            <a:avLst>
              <a:gd name="adj" fmla="val 17142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070026"/>
            <a:ext cx="200025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075" y="3070026"/>
            <a:ext cx="257175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8425" y="3070026"/>
            <a:ext cx="228600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8775" y="3070026"/>
            <a:ext cx="228600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ALGORITHMIC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76275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Comparative Heuristic Optimization Suite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3441501"/>
            <a:ext cx="275034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DSATUR Heuristic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3765351"/>
            <a:ext cx="21907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Dynamic saturation ordering.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2025" y="4435673"/>
            <a:ext cx="19621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284C7"/>
                </a:solidFill>
                <a:latin typeface="Inter"/>
              </a:rPr>
              <a:t>5 Slots • 1.42 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48075" y="3441501"/>
            <a:ext cx="275034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Welsh-Powell Ordering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48075" y="3765351"/>
            <a:ext cx="21907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Static degree descending order.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62375" y="4435673"/>
            <a:ext cx="19621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64748B"/>
                </a:solidFill>
                <a:latin typeface="Inter"/>
              </a:rPr>
              <a:t>6 Slots • 0.82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8425" y="3441501"/>
            <a:ext cx="275034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Smallest-Last Vertex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8425" y="3765351"/>
            <a:ext cx="21907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Recursive degree elimination.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2725" y="4435673"/>
            <a:ext cx="19621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284C7"/>
                </a:solidFill>
                <a:latin typeface="Inter"/>
              </a:rPr>
              <a:t>5 Slots • 1.64 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48775" y="3441501"/>
            <a:ext cx="275034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Random Restart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8775" y="3765351"/>
            <a:ext cx="21907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Compacted stochastic trials.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63075" y="4435673"/>
            <a:ext cx="19621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6A34A"/>
                </a:solidFill>
                <a:latin typeface="Inter"/>
              </a:rPr>
              <a:t>5 Slots • 18.9 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2162175"/>
          <a:ext cx="10972798" cy="34194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939653"/>
                <a:gridCol w="2751832"/>
                <a:gridCol w="1332458"/>
                <a:gridCol w="2209948"/>
                <a:gridCol w="1738907"/>
              </a:tblGrid>
              <a:tr h="68389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Space Grotesk"/>
                        </a:rPr>
                        <a:t>Algorithm Strategy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Space Grotesk"/>
                        </a:rPr>
                        <a:t>Heuristic Metric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Space Grotesk"/>
                        </a:rPr>
                        <a:t>Slots Derived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Space Grotesk"/>
                        </a:rPr>
                        <a:t>Optimality Status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Space Grotesk"/>
                        </a:rPr>
                        <a:t>Execution Latency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68389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Inter"/>
                        </a:rPr>
                        <a:t>DSATUR (Dynamic Saturation)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Dynamic neighbour saturation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6A34A"/>
                          </a:solidFill>
                          <a:latin typeface="JetBrains Mono"/>
                        </a:rPr>
                        <a:t>5 Slots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6A34A"/>
                          </a:solidFill>
                          <a:latin typeface="Inter"/>
                        </a:rPr>
                        <a:t>Optimal (Matches Bound)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JetBrains Mono"/>
                        </a:rPr>
                        <a:t>1.42 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</a:tr>
              <a:tr h="68389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Inter"/>
                        </a:rPr>
                        <a:t>Smallest-Last Ordering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Degree elimination sequence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6A34A"/>
                          </a:solidFill>
                          <a:latin typeface="JetBrains Mono"/>
                        </a:rPr>
                        <a:t>5 Slots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6A34A"/>
                          </a:solidFill>
                          <a:latin typeface="Inter"/>
                        </a:rPr>
                        <a:t>Optimal (Matches Bound)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JetBrains Mono"/>
                        </a:rPr>
                        <a:t>1.64 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Inter"/>
                        </a:rPr>
                        <a:t>Random Restart + Greedy (100x)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Uniform random permutations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6A34A"/>
                          </a:solidFill>
                          <a:latin typeface="JetBrains Mono"/>
                        </a:rPr>
                        <a:t>5 Slots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6A34A"/>
                          </a:solidFill>
                          <a:latin typeface="Inter"/>
                        </a:rPr>
                        <a:t>Optimal (Matches Bound)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JetBrains Mono"/>
                        </a:rPr>
                        <a:t>18.90 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Inter"/>
                        </a:rPr>
                        <a:t>Welsh-Powell (Largest Degree First)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nter"/>
                        </a:rPr>
                        <a:t>Static conflict degree descending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E11D48"/>
                          </a:solidFill>
                          <a:latin typeface="JetBrains Mono"/>
                        </a:rPr>
                        <a:t>6 Slots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E11D48"/>
                          </a:solidFill>
                          <a:latin typeface="Inter"/>
                        </a:rPr>
                        <a:t>+1 Slot Suboptimal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JetBrains Mono"/>
                        </a:rPr>
                        <a:t>0.82 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PERFORMANCE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76275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Solver Benchmark on Canonical 16-Node Topology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3314700"/>
          <a:ext cx="10972796" cy="21907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168276"/>
                <a:gridCol w="438001"/>
                <a:gridCol w="438001"/>
                <a:gridCol w="438001"/>
                <a:gridCol w="438001"/>
                <a:gridCol w="438001"/>
                <a:gridCol w="438001"/>
                <a:gridCol w="438001"/>
                <a:gridCol w="438001"/>
                <a:gridCol w="438001"/>
                <a:gridCol w="438001"/>
                <a:gridCol w="438001"/>
                <a:gridCol w="438001"/>
                <a:gridCol w="438001"/>
                <a:gridCol w="438001"/>
                <a:gridCol w="438001"/>
                <a:gridCol w="438001"/>
                <a:gridCol w="1796504"/>
              </a:tblGrid>
              <a:tr h="36512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00000"/>
                          </a:solidFill>
                          <a:latin typeface="Space Grotesk"/>
                        </a:rPr>
                        <a:t>TDMA Slot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10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11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12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13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14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15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16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200" i="0" u="none">
                          <a:solidFill>
                            <a:srgbClr val="000000"/>
                          </a:solidFill>
                          <a:latin typeface="Space Grotesk"/>
                        </a:rPr>
                        <a:t>Active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284C7"/>
                          </a:solidFill>
                          <a:latin typeface="JetBrains Mono"/>
                        </a:rPr>
                        <a:t>Slot 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 i="0" u="none">
                          <a:solidFill>
                            <a:srgbClr val="1D4ED8"/>
                          </a:solidFill>
                          <a:latin typeface="JetBrains Mono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 i="0" u="none">
                          <a:solidFill>
                            <a:srgbClr val="1D4ED8"/>
                          </a:solidFill>
                          <a:latin typeface="JetBrains Mono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 i="0" u="none">
                          <a:solidFill>
                            <a:srgbClr val="1D4ED8"/>
                          </a:solidFill>
                          <a:latin typeface="JetBrains Mono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 i="0" u="none">
                          <a:solidFill>
                            <a:srgbClr val="1D4ED8"/>
                          </a:solidFill>
                          <a:latin typeface="JetBrains Mono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4 Nodes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284C7"/>
                          </a:solidFill>
                          <a:latin typeface="JetBrains Mono"/>
                        </a:rPr>
                        <a:t>Slot 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 i="0" u="none">
                          <a:solidFill>
                            <a:srgbClr val="1D4ED8"/>
                          </a:solidFill>
                          <a:latin typeface="JetBrains Mono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 i="0" u="none">
                          <a:solidFill>
                            <a:srgbClr val="1D4ED8"/>
                          </a:solidFill>
                          <a:latin typeface="JetBrains Mono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 i="0" u="none">
                          <a:solidFill>
                            <a:srgbClr val="1D4ED8"/>
                          </a:solidFill>
                          <a:latin typeface="JetBrains Mono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 i="0" u="none">
                          <a:solidFill>
                            <a:srgbClr val="1D4ED8"/>
                          </a:solidFill>
                          <a:latin typeface="JetBrains Mono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4 Nodes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284C7"/>
                          </a:solidFill>
                          <a:latin typeface="JetBrains Mono"/>
                        </a:rPr>
                        <a:t>Slot 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 i="0" u="none">
                          <a:solidFill>
                            <a:srgbClr val="1D4ED8"/>
                          </a:solidFill>
                          <a:latin typeface="JetBrains Mono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 i="0" u="none">
                          <a:solidFill>
                            <a:srgbClr val="1D4ED8"/>
                          </a:solidFill>
                          <a:latin typeface="JetBrains Mono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 i="0" u="none">
                          <a:solidFill>
                            <a:srgbClr val="1D4ED8"/>
                          </a:solidFill>
                          <a:latin typeface="JetBrains Mono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3 Nodes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284C7"/>
                          </a:solidFill>
                          <a:latin typeface="JetBrains Mono"/>
                        </a:rPr>
                        <a:t>Slot 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 i="0" u="none">
                          <a:solidFill>
                            <a:srgbClr val="1D4ED8"/>
                          </a:solidFill>
                          <a:latin typeface="JetBrains Mono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 i="0" u="none">
                          <a:solidFill>
                            <a:srgbClr val="1D4ED8"/>
                          </a:solidFill>
                          <a:latin typeface="JetBrains Mono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 i="0" u="none">
                          <a:solidFill>
                            <a:srgbClr val="1D4ED8"/>
                          </a:solidFill>
                          <a:latin typeface="JetBrains Mono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3 Nodes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284C7"/>
                          </a:solidFill>
                          <a:latin typeface="JetBrains Mono"/>
                        </a:rPr>
                        <a:t>Slot 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 i="0" u="none">
                          <a:solidFill>
                            <a:srgbClr val="1D4ED8"/>
                          </a:solidFill>
                          <a:latin typeface="JetBrains Mono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 i="0" u="none">
                          <a:solidFill>
                            <a:srgbClr val="1D4ED8"/>
                          </a:solidFill>
                          <a:latin typeface="JetBrains Mono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200" i="0" u="none">
                          <a:solidFill>
                            <a:srgbClr val="000000"/>
                          </a:solidFill>
                          <a:latin typeface="JetBrains Mono"/>
                        </a:rPr>
                        <a:t>2 Nodes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ASSIGNMENT DELIVERABLE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76275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High-Density Spatial Reuse Allocation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304925"/>
            <a:ext cx="1714500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0284C7"/>
                </a:solidFill>
                <a:latin typeface="Space Grotesk"/>
              </a:rPr>
              <a:t>3.20x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838325"/>
            <a:ext cx="17145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Spatial Reuse Ratio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60253" y="1304925"/>
            <a:ext cx="2190750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0F172A"/>
                </a:solidFill>
                <a:latin typeface="Space Grotesk"/>
              </a:rPr>
              <a:t>4 Radios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60253" y="1838325"/>
            <a:ext cx="2190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Peak Concurrent Radios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91907" y="1304925"/>
            <a:ext cx="2119312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0F172A"/>
                </a:solidFill>
                <a:latin typeface="Space Grotesk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91907" y="1838325"/>
            <a:ext cx="21193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Slots Efficiently Reused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66411" y="1304925"/>
            <a:ext cx="2144985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0F172A"/>
                </a:solidFill>
                <a:latin typeface="Space Grotesk"/>
              </a:rPr>
              <a:t>≥ 3 Hops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66411" y="1838325"/>
            <a:ext cx="214498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Co-Channel Separation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38800" y="2611040"/>
            <a:ext cx="5943600" cy="2521594"/>
          </a:xfrm>
          <a:prstGeom prst="roundRect">
            <a:avLst>
              <a:gd name="adj" fmla="val 4532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390179"/>
            <a:ext cx="4686300" cy="1405532"/>
          </a:xfrm>
          <a:prstGeom prst="roundRect">
            <a:avLst>
              <a:gd name="adj" fmla="val 271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48112"/>
            <a:ext cx="4686300" cy="1405532"/>
          </a:xfrm>
          <a:prstGeom prst="roundRect">
            <a:avLst>
              <a:gd name="adj" fmla="val 271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390179"/>
            <a:ext cx="38100" cy="14055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948112"/>
            <a:ext cx="38100" cy="1405532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20400" y="2877740"/>
            <a:ext cx="495300" cy="238125"/>
          </a:xfrm>
          <a:prstGeom prst="roundRect">
            <a:avLst>
              <a:gd name="adj" fmla="val 16000"/>
            </a:avLst>
          </a:prstGeom>
          <a:solidFill>
            <a:srgbClr val="0F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VERIFICATION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76275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Independent Validation &amp; Test Automation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05500" y="3373040"/>
            <a:ext cx="5505450" cy="14928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94A3B8"/>
                </a:solidFill>
                <a:latin typeface="JetBrains Mono"/>
              </a:rPr>
              <a:t>tests/test_topology.py .......... [ 21%] tests/test_conflict.py .......... [ 42%] tests/test_colouring.py ......... [ 63%] tests/test_validator.py ......... [ 85%] tests/test_emane_bridge.py ....... [100%] </a:t>
            </a:r>
            <a:r>
              <a:rPr b="1" sz="1050" i="0" u="none">
                <a:solidFill>
                  <a:srgbClr val="10B981"/>
                </a:solidFill>
                <a:latin typeface="JetBrains Mono"/>
              </a:rPr>
              <a:t>================ 47 passed, 7 subtests passed in 1.52s ================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580679"/>
            <a:ext cx="56007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Zero Conflict Violations Asserted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885479"/>
            <a:ext cx="436245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Every node pair evaluated across all 55 conflict edges. Zero instances of concurrent transmission discovered.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4138612"/>
            <a:ext cx="56007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Geodesic Distance 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4443412"/>
            <a:ext cx="436245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Co-channel nodes strictly satisfy d_G(u, v) ≥ 3 hops, confirming safety from both direct and hidden interference.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05500" y="2896790"/>
            <a:ext cx="27384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JetBrains Mono"/>
              </a:rPr>
              <a:t>pytest automation suite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96600" y="2915840"/>
            <a:ext cx="4381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0B981"/>
                </a:solidFill>
                <a:latin typeface="Inter"/>
              </a:rPr>
              <a:t>PASS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00750" y="2626518"/>
            <a:ext cx="5581650" cy="2490787"/>
          </a:xfrm>
          <a:prstGeom prst="roundRect">
            <a:avLst>
              <a:gd name="adj" fmla="val 4588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333029"/>
            <a:ext cx="5048250" cy="1462682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48112"/>
            <a:ext cx="5048250" cy="1462682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PHYSICAL EMULATION (BONUS TASK)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76275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EMANE TDMA BDCE Radio Model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7450" y="2893218"/>
            <a:ext cx="59245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JetBrains Mono"/>
              </a:rPr>
              <a:t>Auto-Generated emane/schedule.xml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" y="2552104"/>
            <a:ext cx="605075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16 Virtual Radio NEMs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675" y="2856904"/>
            <a:ext cx="470535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Configured 16 distinct Network Emulation Modules (NEMs) running over virtual TUN/TAP network interfaces.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675" y="4167187"/>
            <a:ext cx="605075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RF Physical Layer Calibration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75" y="4471987"/>
            <a:ext cx="470535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7.5 ms frame duration (5 slots × 1500 μs), 2.4 GHz center frequency, 1.0 MHz bandwidth, QPSK modulation.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50964"/>
            <a:ext cx="3505200" cy="1841896"/>
          </a:xfrm>
          <a:prstGeom prst="roundRect">
            <a:avLst>
              <a:gd name="adj" fmla="val 62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50964"/>
            <a:ext cx="3505200" cy="1841896"/>
          </a:xfrm>
          <a:prstGeom prst="roundRect">
            <a:avLst>
              <a:gd name="adj" fmla="val 62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50964"/>
            <a:ext cx="3505200" cy="1841896"/>
          </a:xfrm>
          <a:prstGeom prst="roundRect">
            <a:avLst>
              <a:gd name="adj" fmla="val 62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EMULATION 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76275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Runtime Telemetry &amp; Gating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227189"/>
            <a:ext cx="397549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Schedule Acceptance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551039"/>
            <a:ext cx="3786187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JetBrains Mono"/>
              </a:rP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4036814"/>
            <a:ext cx="31242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scheduleAcceptFull = 1 polled via emanesh telemetry on NEM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525" y="3227189"/>
            <a:ext cx="397549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Timing Rejections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525" y="3551039"/>
            <a:ext cx="3786187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284C7"/>
                </a:solidFill>
                <a:latin typeface="JetBrains Mono"/>
              </a:rPr>
              <a:t>0 Errors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525" y="4036814"/>
            <a:ext cx="31242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Zero frame index, slot index, or XML schema syntax rejections.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5325" y="3227189"/>
            <a:ext cx="38766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ICMP Packet Delivery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5325" y="3551039"/>
            <a:ext cx="3786187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JetBrains Mono"/>
              </a:rPr>
              <a:t>0.0% 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5325" y="4036814"/>
            <a:ext cx="31242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Zero packet drops across virtual endpoints with jitter under 0.12 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41401"/>
            <a:ext cx="3505200" cy="2461021"/>
          </a:xfrm>
          <a:prstGeom prst="roundRect">
            <a:avLst>
              <a:gd name="adj" fmla="val 464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641401"/>
            <a:ext cx="3505200" cy="2461021"/>
          </a:xfrm>
          <a:prstGeom prst="roundRect">
            <a:avLst>
              <a:gd name="adj" fmla="val 464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641401"/>
            <a:ext cx="3505200" cy="2461021"/>
          </a:xfrm>
          <a:prstGeom prst="roundRect">
            <a:avLst>
              <a:gd name="adj" fmla="val 464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984301"/>
            <a:ext cx="200025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5" y="2984301"/>
            <a:ext cx="2667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5" y="2984301"/>
            <a:ext cx="2667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STRATEGIC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76275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Direct Impact on VMN Tactical Roadmaps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431976"/>
            <a:ext cx="397549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Tactical Defense SDR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793926"/>
            <a:ext cx="3124200" cy="9941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Autonomous Distance-2 colouring eliminates co-channel jam in squad radios without centralized cellular towers.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525" y="3431976"/>
            <a:ext cx="397549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5G Sidelink &amp; PQC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525" y="3793926"/>
            <a:ext cx="3124200" cy="9941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Deterministic TDMA slots shield against RF traffic analysis and timing side-channel exploits in mission-critical meshes.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5325" y="3431976"/>
            <a:ext cx="38766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EMANE Emulation Lab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5325" y="3793926"/>
            <a:ext cx="3124200" cy="9941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Turnkey readiness in military-standard EMANE orchestration for hardware-in-the-loop compliance benchmarking.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666875" y="4389090"/>
            <a:ext cx="8858250" cy="809625"/>
          </a:xfrm>
          <a:prstGeom prst="roundRect">
            <a:avLst>
              <a:gd name="adj" fmla="val 11764"/>
            </a:avLst>
          </a:prstGeom>
          <a:solidFill>
            <a:srgbClr val="151922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81850" y="4622452"/>
            <a:ext cx="9525" cy="3429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25099" y="1659284"/>
            <a:ext cx="494165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8BDF8"/>
                </a:solidFill>
                <a:latin typeface="Space Grotesk"/>
              </a:rPr>
              <a:t>SUBMISSION CONCLUSION &amp;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328" y="2011709"/>
            <a:ext cx="10751343" cy="1257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900" i="0" u="none">
                <a:solidFill>
                  <a:srgbClr val="F8FAFC"/>
                </a:solidFill>
                <a:latin typeface="Space Grotesk"/>
              </a:rPr>
              <a:t>Ready for Technical Panel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1625" y="3459509"/>
            <a:ext cx="904875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b="0" sz="1650" i="0" u="none">
                <a:solidFill>
                  <a:srgbClr val="94A3B8"/>
                </a:solidFill>
                <a:latin typeface="Inter"/>
              </a:rPr>
              <a:t>End-to-end delivery of the mathematical graph optimization engine and DoD-grade EMANE physical radio emulation.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9300" y="4589115"/>
            <a:ext cx="491490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GitHub Project Repository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275" y="4598640"/>
            <a:ext cx="2733675" cy="390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Internship 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9300" y="4779615"/>
            <a:ext cx="602456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JetBrains Mono"/>
              </a:rPr>
              <a:t>github.com/Manjari-E/TDMA-Scheduling-and-EMANE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34275" y="4789140"/>
            <a:ext cx="32980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Inter"/>
              </a:rPr>
              <a:t>Wireless Protocol Development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